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FD1C9-C8CB-D5C3-3837-A3203FF4E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DB1BF3-429E-F52B-0D62-257BE3B891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C2BCF-74A1-15AF-840D-CC73BBB15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C6CB9-D8A2-36F6-FA66-E5C2E5AD0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242B3-7191-F289-D26C-8DECA553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17930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6F594-4820-563F-72EC-4EBCFA5C9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CDF8A-5423-9D9E-3FC0-7AC19585A5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7C2114-2A94-7837-48F0-56A9B2536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698BCA-A887-6883-486A-B332B2B9C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D0CC16-AFF0-7912-018D-3BDDAA618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9486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B7BA7-3760-3B01-DC93-62603C0C6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2F79B7-A7AC-912F-44FD-59EF090CA9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8603AF-B00A-20F7-783C-9B0EB6C3C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D852DD-141C-5148-CAF6-7CA04CA5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400FDA-522A-0F6A-B2A5-645A0A58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38547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7D1F4-E9DA-4981-0B8A-7EBDD21D2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9F93-FF38-CD86-96A6-45844E773F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9E4EE-9D4E-3C1A-1269-65DDCDFC91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6F255-E728-B868-B3FE-5BB02A456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FF8DD4-E580-9348-197F-C3C11D35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7DF1A-045F-BC14-0E54-2F89933EB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54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ACFF0-7075-2C9B-6A2A-D88A6626E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646616-9D7C-C04F-41BD-E54591670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569B0E-34FB-14FB-66C7-35AA453399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165271-ACB2-85DB-75D1-AC69F34F89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430332-90A0-B947-D382-25E937DB17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9C9180-22BB-E959-1233-22FE4C83F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93C9CF-8A84-E8B1-91C0-9F5FE8DF0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EAF909-A0A2-BB05-C225-14E7F2C0F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61814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AE070-CE59-95C8-9CF1-0C3BD2933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4508F8-A25E-5B9C-8206-9558F81A9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C6F3E6-4C11-875E-0989-FCCC4CD38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9508D0-C0F5-F89F-CE74-EA2B00FB0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667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2B464E-D384-DCAA-9DBA-D4C7B6BCA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A3FD2E-7483-C0BE-9288-88F5D9DAB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FE716-C289-CB34-8463-5A7DC2C83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26492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4A1F0-9D83-9121-079C-4B99C04D0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EF2C5-1D94-F889-4720-3369A57E3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0F6041-A452-0AD8-EF3E-E27B4EFD0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D96FF9-AC09-720C-BA06-5AC36EADF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D39809-8172-8AC6-6085-8CC0E87251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E6B179-6C40-350A-D4C0-6DAC8770A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7521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5798C-0F87-68F2-69CD-E9733BE3E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348757-ED89-B715-A795-E0025D63B7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63951C-80FD-36BB-5B6E-2822288752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78F94D-A76A-A3F7-DC53-0E0A04896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72E620-D96F-B3B7-A267-1DA771627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C8E99F-C9BA-CEB0-E4D1-9479015C3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64114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F9591-CE29-9804-1AB3-EBB41F853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3C2035-3C55-A377-BE3C-CB33BE983A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00DAA4-8AC2-3E15-B52A-B1E721752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0AA57-A40F-03F0-51DC-3AB635BB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9E9A2-C009-B35A-6B00-F5B2B0468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4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C2F042-E92D-B6AA-3AD9-675E8E240B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73A70C-531D-0B51-FD35-064D421B13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D91F8-76B3-CF6B-D2AA-D21E55219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CD078-A1DE-4913-9B4A-9FAFF04AE4C7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63650-6EDC-1ED7-2095-70C9C3CB2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4B98A-2805-FCCE-F7BE-1D66FAC14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1222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D0AE97-559A-054F-ED0C-905B3AE60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AB1092-E79E-571A-EB46-3FADE1640C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49F449-CDCA-D950-705B-6D3F99D400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BCD078-A1DE-4913-9B4A-9FAFF04AE4C7}" type="datetimeFigureOut">
              <a:rPr lang="en-IN" smtClean="0"/>
              <a:t>29-08-2025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57770D-8356-CCA6-CD3F-02BB9CDA0A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0451E-76B1-DC3D-3095-88F940AE7B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7444D2-C3EA-4BF6-93D3-079CC30DE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1091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7A440-8672-1073-8E7E-993CC3D2EC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GCP Cost Optimization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1D1D89-C2BF-6D9C-2E4A-56F8056A57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7805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D88EA-E144-5DBB-9AF5-68E298494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760" y="384048"/>
            <a:ext cx="10515600" cy="292608"/>
          </a:xfrm>
        </p:spPr>
        <p:txBody>
          <a:bodyPr>
            <a:noAutofit/>
          </a:bodyPr>
          <a:lstStyle/>
          <a:p>
            <a:r>
              <a:rPr lang="en-US" sz="1800" b="1" dirty="0">
                <a:latin typeface="+mn-lt"/>
              </a:rPr>
              <a:t>Google Cloud Storage Cost Drivers</a:t>
            </a:r>
            <a:br>
              <a:rPr lang="en-US" sz="1800" b="1" dirty="0">
                <a:latin typeface="+mn-lt"/>
              </a:rPr>
            </a:br>
            <a:endParaRPr lang="en-IN" sz="1800" b="1" dirty="0">
              <a:latin typeface="+mn-lt"/>
            </a:endParaRP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6633B2B2-0E03-98D2-A1F5-DF2E38848E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19182791"/>
              </p:ext>
            </p:extLst>
          </p:nvPr>
        </p:nvGraphicFramePr>
        <p:xfrm>
          <a:off x="838200" y="847217"/>
          <a:ext cx="10515600" cy="591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99182396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40122784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98599374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4527693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Cost 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Pricing (North America, Region)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Example (30 Days)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6455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Data Storage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Cost for storing data, based on storage class (Standard, Nearline, 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Coldline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, Archive) and region.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 Standard: $0.023/GB/month - Nearline: $0.010/GB/month - 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Coldline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: $0.004/GB/month - Archive: $0.0022/GB/month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 GB Standard Storage: 50 GB * $0.023/GB * (30/30) = $1.15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2879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Network Egress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Charges for data downloaded or transferred out of GCS (ingress is free).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$0.12/GB for first 1 TB/month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 GB Egress: 10 GB * $0.12/GB = $1.20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17782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Class A Operations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Operations like PUT, POST, and GET bucket (list) requests.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$0.05 per 10,000 operations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10,000 Class A Operations: (10,000 / 10,000) * $0.05 = $0.05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45387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Class B Operations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Operations like GET object and HEAD requests.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$0.004 per 10,000 operations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20,000 Class B Operations: (20,000 / 10,000) * $0.004 = $0.008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186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Retrieval Fees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Fees for accessing data in Nearline, Coldline, or Archive storage classes.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 Nearline: $0.01/GB - Coldline: $0.02/GB - Archive: $0.05/GB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 GB Archive Retrieval: 10 GB * $0.05/GB = $0.50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8515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Early Deletion Fees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Fees for deleting data before the minimum storage duration (Nearline: 30 days, Coldline: 90 days, Archive: 365 days).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Equivalent to remaining minimum storage 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500 GB Archive deleted after 185 days (180 days remaining): 500 GB * $0.0022/GB * (180/30) = $6.60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2039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Total 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Sum of all cost components for the project.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Total Cost = Storage Cost + Network Egress Cost + Operations Cost + Retrieval/Early Deletion Fees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$1.15 + $1.20 + $0.05 + $0.008 + $0.50 + $6.60 = $9.508</a:t>
                      </a:r>
                    </a:p>
                    <a:p>
                      <a:pPr>
                        <a:buNone/>
                      </a:pP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37679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0113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8C512-3B5F-3892-DE06-DEE4835AD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F3E7C-536D-6A43-7A51-2A7669414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760" y="384048"/>
            <a:ext cx="10515600" cy="292608"/>
          </a:xfrm>
        </p:spPr>
        <p:txBody>
          <a:bodyPr>
            <a:noAutofit/>
          </a:bodyPr>
          <a:lstStyle/>
          <a:p>
            <a:r>
              <a:rPr lang="en-US" sz="1800" b="1" dirty="0" err="1">
                <a:latin typeface="+mn-lt"/>
              </a:rPr>
              <a:t>BigQuery</a:t>
            </a:r>
            <a:r>
              <a:rPr lang="en-US" sz="1800" b="1" dirty="0">
                <a:latin typeface="+mn-lt"/>
              </a:rPr>
              <a:t> Cost Drivers</a:t>
            </a:r>
            <a:br>
              <a:rPr lang="en-US" sz="1800" b="1" dirty="0">
                <a:latin typeface="+mn-lt"/>
              </a:rPr>
            </a:br>
            <a:endParaRPr lang="en-IN" sz="1800" b="1" dirty="0">
              <a:latin typeface="+mn-lt"/>
            </a:endParaRP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998BBDC6-A0DD-5ECC-EE2F-83D80A6A3EB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1075631"/>
              </p:ext>
            </p:extLst>
          </p:nvPr>
        </p:nvGraphicFramePr>
        <p:xfrm>
          <a:off x="838200" y="847216"/>
          <a:ext cx="10628376" cy="56267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7094">
                  <a:extLst>
                    <a:ext uri="{9D8B030D-6E8A-4147-A177-3AD203B41FA5}">
                      <a16:colId xmlns:a16="http://schemas.microsoft.com/office/drawing/2014/main" val="2991823968"/>
                    </a:ext>
                  </a:extLst>
                </a:gridCol>
                <a:gridCol w="2657094">
                  <a:extLst>
                    <a:ext uri="{9D8B030D-6E8A-4147-A177-3AD203B41FA5}">
                      <a16:colId xmlns:a16="http://schemas.microsoft.com/office/drawing/2014/main" val="1401227840"/>
                    </a:ext>
                  </a:extLst>
                </a:gridCol>
                <a:gridCol w="2657094">
                  <a:extLst>
                    <a:ext uri="{9D8B030D-6E8A-4147-A177-3AD203B41FA5}">
                      <a16:colId xmlns:a16="http://schemas.microsoft.com/office/drawing/2014/main" val="1985993749"/>
                    </a:ext>
                  </a:extLst>
                </a:gridCol>
                <a:gridCol w="2657094">
                  <a:extLst>
                    <a:ext uri="{9D8B030D-6E8A-4147-A177-3AD203B41FA5}">
                      <a16:colId xmlns:a16="http://schemas.microsoft.com/office/drawing/2014/main" val="1452769300"/>
                    </a:ext>
                  </a:extLst>
                </a:gridCol>
              </a:tblGrid>
              <a:tr h="4296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Cost 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Pricing (US Region)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Example (30 Days)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6455084"/>
                  </a:ext>
                </a:extLst>
              </a:tr>
              <a:tr h="52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Active Storage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Data modified in the last 90 days.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$0.02/GB/month (first 10 GB free)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100 GB Active: (100 - 10) * $0.02 = $1.80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2879868"/>
                  </a:ext>
                </a:extLst>
              </a:tr>
              <a:tr h="52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Long-Term Storage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Data unmodified for 90+ days (50% discount).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$0.01/GB/month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50 GB Long-Term: 50 * $0.01 = $0.50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1778204"/>
                  </a:ext>
                </a:extLst>
              </a:tr>
              <a:tr h="529713">
                <a:tc>
                  <a:txBody>
                    <a:bodyPr/>
                    <a:lstStyle/>
                    <a:p>
                      <a:r>
                        <a:rPr lang="en-IN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Query Processing (On-Demand)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Cost for data processed by queries (first 1 TB/month free).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$5/TB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 TB processed: (2 - 1) * $5 = $5.00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4538759"/>
                  </a:ext>
                </a:extLst>
              </a:tr>
              <a:tr h="529713">
                <a:tc>
                  <a:txBody>
                    <a:bodyPr/>
                    <a:lstStyle/>
                    <a:p>
                      <a:r>
                        <a:rPr lang="en-IN" sz="12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Query Processing (Flat-Rate)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Fixed cost for reserved slots (e.g., Enterprise Edition).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$20/slot/month (e.g., 100 slots = $2,000)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l-NL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100 slots: $2,000 * (30/30) = $2,000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186197"/>
                  </a:ext>
                </a:extLst>
              </a:tr>
              <a:tr h="4296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Streaming Inserts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Cost for data streamed into BigQuery.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$0.05/GB (first 2 TB/month free)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 GB streamed: 10 * $0.05 = $0.50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8515024"/>
                  </a:ext>
                </a:extLst>
              </a:tr>
              <a:tr h="52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Streaming Reads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Data read from BigQuery in real-time (e.g., via APIs).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$1.10 per TB (first 300 TB free/month)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100 TB read: (100 - 300) * $1.10 = $0 (within free tier)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203980"/>
                  </a:ext>
                </a:extLst>
              </a:tr>
              <a:tr h="74159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Data Transfer (Export)</a:t>
                      </a:r>
                    </a:p>
                    <a:p>
                      <a:pPr>
                        <a:buNone/>
                      </a:pPr>
                      <a:endParaRPr lang="en-IN" sz="12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Cost for exporting data (batch free up to 50 TB/day; Storage API reads cost).</a:t>
                      </a:r>
                    </a:p>
                    <a:p>
                      <a:pPr>
                        <a:buNone/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$0.12/GB (egress), $1.10/TB (Storage API)</a:t>
                      </a:r>
                    </a:p>
                    <a:p>
                      <a:pPr>
                        <a:buNone/>
                      </a:pPr>
                      <a:endParaRPr lang="en-IN" sz="12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 GB egress: 5 * $0.12 = $0.60</a:t>
                      </a:r>
                    </a:p>
                    <a:p>
                      <a:pPr>
                        <a:buNone/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3767909"/>
                  </a:ext>
                </a:extLst>
              </a:tr>
              <a:tr h="52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BI Engine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In-memory analysis for faster query performance (optional).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$0.04 per GB/month (reserved capacity)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 GB reserved: 10 * $0.04 = $0.40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66313"/>
                  </a:ext>
                </a:extLst>
              </a:tr>
              <a:tr h="5297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BigQuery Omni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Running BigQuery on non-GCP clouds (AWS, Azure).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Varies by cloud provider; ~$7 per TB processed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TB processed on AWS: $7.00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8937129"/>
                  </a:ext>
                </a:extLst>
              </a:tr>
              <a:tr h="3178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Total 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Sum of all cost components.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8410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4525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9476A-98F3-1E27-CA94-9EFEF6E8BA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5048" y="376393"/>
            <a:ext cx="10515600" cy="348107"/>
          </a:xfrm>
        </p:spPr>
        <p:txBody>
          <a:bodyPr>
            <a:normAutofit/>
          </a:bodyPr>
          <a:lstStyle/>
          <a:p>
            <a:r>
              <a:rPr lang="en-IN" sz="1800" b="1" dirty="0">
                <a:latin typeface="+mn-lt"/>
              </a:rPr>
              <a:t>GKE Cost Drivers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D0C2C7B-6840-894E-FFBA-E38C817FF4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7847770"/>
              </p:ext>
            </p:extLst>
          </p:nvPr>
        </p:nvGraphicFramePr>
        <p:xfrm>
          <a:off x="838203" y="993520"/>
          <a:ext cx="10765533" cy="54880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8511">
                  <a:extLst>
                    <a:ext uri="{9D8B030D-6E8A-4147-A177-3AD203B41FA5}">
                      <a16:colId xmlns:a16="http://schemas.microsoft.com/office/drawing/2014/main" val="1102372654"/>
                    </a:ext>
                  </a:extLst>
                </a:gridCol>
                <a:gridCol w="3588511">
                  <a:extLst>
                    <a:ext uri="{9D8B030D-6E8A-4147-A177-3AD203B41FA5}">
                      <a16:colId xmlns:a16="http://schemas.microsoft.com/office/drawing/2014/main" val="905409914"/>
                    </a:ext>
                  </a:extLst>
                </a:gridCol>
                <a:gridCol w="3588511">
                  <a:extLst>
                    <a:ext uri="{9D8B030D-6E8A-4147-A177-3AD203B41FA5}">
                      <a16:colId xmlns:a16="http://schemas.microsoft.com/office/drawing/2014/main" val="390644109"/>
                    </a:ext>
                  </a:extLst>
                </a:gridCol>
              </a:tblGrid>
              <a:tr h="5698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 dirty="0">
                          <a:effectLst/>
                          <a:latin typeface="+mn-lt"/>
                        </a:rPr>
                        <a:t>Cost 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>
                          <a:effectLst/>
                          <a:latin typeface="+mn-lt"/>
                        </a:rPr>
                        <a:t>Description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>
                          <a:effectLst/>
                          <a:latin typeface="+mn-lt"/>
                        </a:rPr>
                        <a:t>Example Cost (30 Days)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0168613"/>
                  </a:ext>
                </a:extLst>
              </a:tr>
              <a:tr h="702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>
                          <a:effectLst/>
                          <a:latin typeface="+mn-lt"/>
                        </a:rPr>
                        <a:t>Cluster Management Fee</a:t>
                      </a:r>
                      <a:endParaRPr lang="en-IN" sz="1200" u="none" strike="noStrike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Fixed fee per cluster per hour. One zonal cluster per billing account is free (up to 720 hours/month).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$73 (1 standard cluster, $0.10/hour × 730 hours, assuming no free tier).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710419"/>
                  </a:ext>
                </a:extLst>
              </a:tr>
              <a:tr h="702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 dirty="0">
                          <a:effectLst/>
                          <a:latin typeface="+mn-lt"/>
                        </a:rPr>
                        <a:t>Compute Resources (Nodes)</a:t>
                      </a:r>
                      <a:endParaRPr lang="en-IN" sz="12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Costs for Compute Engine instances (vCPUs, memory) used by worker nodes in Standard mode.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$150.45 (3 n1-standard-2 nodes, ~$0.068/vCPU/hour, 2 vCPUs each, 730 hours).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37908"/>
                  </a:ext>
                </a:extLst>
              </a:tr>
              <a:tr h="702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 dirty="0">
                          <a:effectLst/>
                          <a:latin typeface="+mn-lt"/>
                        </a:rPr>
                        <a:t>Autopilot Pod Resources</a:t>
                      </a:r>
                      <a:endParaRPr lang="en-IN" sz="12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In Autopilot mode, charges for vCPU and memory allocated to pods, not nodes.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$200 (2 vCPUs at $0.045/hour, 4 GB memory at $0.006/GB/hour, 730 hours).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1637535"/>
                  </a:ext>
                </a:extLst>
              </a:tr>
              <a:tr h="702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>
                          <a:effectLst/>
                          <a:latin typeface="+mn-lt"/>
                        </a:rPr>
                        <a:t>Persistent Disks</a:t>
                      </a:r>
                      <a:endParaRPr lang="en-IN" sz="1200" u="none" strike="noStrike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 dirty="0">
                          <a:effectLst/>
                          <a:latin typeface="+mn-lt"/>
                        </a:rPr>
                        <a:t>Storage for workloads (e.g., Standard, SSD). Billed based on provisioned capacity.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u="none" strike="noStrike">
                          <a:effectLst/>
                          <a:latin typeface="+mn-lt"/>
                        </a:rPr>
                        <a:t>$40 (100 GB SSD at $0.17/GB/month).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6507906"/>
                  </a:ext>
                </a:extLst>
              </a:tr>
              <a:tr h="702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>
                          <a:effectLst/>
                          <a:latin typeface="+mn-lt"/>
                        </a:rPr>
                        <a:t>Load Balancers</a:t>
                      </a:r>
                      <a:endParaRPr lang="en-IN" sz="1200" u="none" strike="noStrike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Costs for HTTP(S) or TCP/UDP load balancers used by GKE services.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$18.25 (1 HTTP load balancer, $0.025/hour × 730 hours).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460102"/>
                  </a:ext>
                </a:extLst>
              </a:tr>
              <a:tr h="702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 dirty="0">
                          <a:effectLst/>
                          <a:latin typeface="+mn-lt"/>
                        </a:rPr>
                        <a:t>Network Egress</a:t>
                      </a:r>
                      <a:endParaRPr lang="en-IN" sz="12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Data transfer costs for traffic leaving GCP (e.g., to the internet or other regions).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 dirty="0">
                          <a:effectLst/>
                          <a:latin typeface="+mn-lt"/>
                        </a:rPr>
                        <a:t>$10 (50 GB egress to the internet at $0.20/GB).</a:t>
                      </a:r>
                    </a:p>
                    <a:p>
                      <a:pPr>
                        <a:buNone/>
                      </a:pPr>
                      <a:endParaRPr lang="en-US" sz="12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888595"/>
                  </a:ext>
                </a:extLst>
              </a:tr>
              <a:tr h="702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u="none" strike="noStrike" dirty="0">
                          <a:effectLst/>
                          <a:latin typeface="+mn-lt"/>
                        </a:rPr>
                        <a:t>Other Resources</a:t>
                      </a:r>
                      <a:endParaRPr lang="en-IN" sz="12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u="none" strike="noStrike">
                          <a:effectLst/>
                          <a:latin typeface="+mn-lt"/>
                        </a:rPr>
                        <a:t>Additional services like Cloud Logging, Monitoring, or IP addresses.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200" u="none" strike="noStrike" dirty="0">
                          <a:effectLst/>
                          <a:latin typeface="+mn-lt"/>
                        </a:rPr>
                        <a:t>$5 (Cloud Monitoring data ingestion, ~50 GB at $0.10/GB).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8779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9478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65031-E2A6-FD66-8B91-4D5F8A936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D41FA-762F-75D3-5AC6-F66E34694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1" y="74641"/>
            <a:ext cx="10515600" cy="348107"/>
          </a:xfrm>
        </p:spPr>
        <p:txBody>
          <a:bodyPr>
            <a:normAutofit/>
          </a:bodyPr>
          <a:lstStyle/>
          <a:p>
            <a:r>
              <a:rPr lang="en-IN" sz="1800" b="1" dirty="0">
                <a:latin typeface="+mn-lt"/>
              </a:rPr>
              <a:t>OR Tool Vs IBM </a:t>
            </a:r>
            <a:r>
              <a:rPr lang="en-IN" sz="1800" b="1" dirty="0" err="1">
                <a:latin typeface="+mn-lt"/>
              </a:rPr>
              <a:t>Turbonomic</a:t>
            </a:r>
            <a:endParaRPr lang="en-IN" sz="1800" b="1" dirty="0">
              <a:latin typeface="+mn-lt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1995072-7BC6-57B8-E452-F0F2875F41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03733432"/>
              </p:ext>
            </p:extLst>
          </p:nvPr>
        </p:nvGraphicFramePr>
        <p:xfrm>
          <a:off x="137161" y="422748"/>
          <a:ext cx="11713464" cy="6405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4488">
                  <a:extLst>
                    <a:ext uri="{9D8B030D-6E8A-4147-A177-3AD203B41FA5}">
                      <a16:colId xmlns:a16="http://schemas.microsoft.com/office/drawing/2014/main" val="1102372654"/>
                    </a:ext>
                  </a:extLst>
                </a:gridCol>
                <a:gridCol w="3904488">
                  <a:extLst>
                    <a:ext uri="{9D8B030D-6E8A-4147-A177-3AD203B41FA5}">
                      <a16:colId xmlns:a16="http://schemas.microsoft.com/office/drawing/2014/main" val="905409914"/>
                    </a:ext>
                  </a:extLst>
                </a:gridCol>
                <a:gridCol w="3904488">
                  <a:extLst>
                    <a:ext uri="{9D8B030D-6E8A-4147-A177-3AD203B41FA5}">
                      <a16:colId xmlns:a16="http://schemas.microsoft.com/office/drawing/2014/main" val="390644109"/>
                    </a:ext>
                  </a:extLst>
                </a:gridCol>
              </a:tblGrid>
              <a:tr h="2199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Area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OR Tool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IBM </a:t>
                      </a:r>
                      <a:r>
                        <a:rPr lang="en-IN" sz="1000" dirty="0" err="1"/>
                        <a:t>Turbonomic</a:t>
                      </a:r>
                      <a:endParaRPr lang="en-IN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0168613"/>
                  </a:ext>
                </a:extLst>
              </a:tr>
              <a:tr h="6283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u="none" strike="noStrike" dirty="0">
                          <a:effectLst/>
                          <a:latin typeface="+mn-lt"/>
                        </a:rPr>
                        <a:t>Primary scope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Google Cloud only (per your description): pulls usage metrics, </a:t>
                      </a:r>
                      <a:r>
                        <a:rPr lang="en-IN" sz="1000" dirty="0" err="1"/>
                        <a:t>analyzes</a:t>
                      </a:r>
                      <a:r>
                        <a:rPr lang="en-IN" sz="1000" dirty="0"/>
                        <a:t> provisioning vs. demand, computes current vs. optimized cost, outputs recommendations.</a:t>
                      </a:r>
                      <a:endParaRPr lang="en-US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Hybrid &amp; </a:t>
                      </a:r>
                      <a:r>
                        <a:rPr lang="en-IN" sz="1000" dirty="0" err="1"/>
                        <a:t>multicloud</a:t>
                      </a:r>
                      <a:r>
                        <a:rPr lang="en-IN" sz="1000" dirty="0"/>
                        <a:t> ARM (Application Resource Management) spanning on-prem virtualization, public clouds (AWS/Azure/GCP), and Kubernetes (GKE/AKS/EKS/OpenShift). Continuous optimization to assure app performance at lowest cost. </a:t>
                      </a:r>
                      <a:endParaRPr lang="en-US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37908"/>
                  </a:ext>
                </a:extLst>
              </a:tr>
              <a:tr h="4901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dirty="0"/>
                        <a:t>GCP coverage</a:t>
                      </a:r>
                      <a:endParaRPr lang="en-IN" sz="1000" b="1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Metrics + cost modeling for your GCP clusters; customizable with your logic.</a:t>
                      </a:r>
                      <a:endParaRPr lang="en-US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Native GCP integration including GCE/GKE; “stitches” GKE clusters to underlying GCP resources; analyzes resourcing &amp; billing data; generates actions.</a:t>
                      </a:r>
                      <a:endParaRPr lang="en-US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1637535"/>
                  </a:ext>
                </a:extLst>
              </a:tr>
              <a:tr h="4901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dirty="0"/>
                        <a:t>Kubernetes depth</a:t>
                      </a:r>
                      <a:endParaRPr lang="en-IN" sz="1000" b="1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Depends on what you implement (e.g., rightsizing nodes/pods, HPA targets, bin-packing).</a:t>
                      </a:r>
                      <a:endParaRPr lang="en-US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Rich K8s actions: scale/move/suspend pods, reconfigure nodes, adjust controllers; aims to maximize elasticity while balancing performance &amp; cost.</a:t>
                      </a:r>
                      <a:endParaRPr lang="en-IN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6507906"/>
                  </a:ext>
                </a:extLst>
              </a:tr>
              <a:tr h="4901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dirty="0"/>
                        <a:t>Optimization loop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Tool-2 analysis → Tool-3 cost delta → recommendations; execution presumably manual unless you add an automation step.</a:t>
                      </a:r>
                      <a:endParaRPr lang="en-US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Continuous, closed-loop optimization: visibility → recommended actions → (optional) automated execution with policy guardrails to keep desired state.</a:t>
                      </a:r>
                      <a:endParaRPr lang="en-US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460102"/>
                  </a:ext>
                </a:extLst>
              </a:tr>
              <a:tr h="4901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dirty="0"/>
                        <a:t>Action execution</a:t>
                      </a:r>
                      <a:endParaRPr lang="en-IN" sz="1000" b="1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You can execute via ADK agents or scripts you wire up (e.g., </a:t>
                      </a:r>
                      <a:r>
                        <a:rPr lang="en-US" sz="1000" dirty="0" err="1"/>
                        <a:t>Gcloud</a:t>
                      </a:r>
                      <a:r>
                        <a:rPr lang="en-US" sz="1000" dirty="0"/>
                        <a:t>, GKE, Terraform).</a:t>
                      </a:r>
                      <a:endParaRPr lang="en-US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Built-in ecosystem for change execution/approval via ServiceNow, Terraform, GitHub (code-aware), etc.; supports fully or semi-automated actions.</a:t>
                      </a:r>
                      <a:endParaRPr lang="en-US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888595"/>
                  </a:ext>
                </a:extLst>
              </a:tr>
              <a:tr h="4901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dirty="0"/>
                        <a:t>Integrations</a:t>
                      </a:r>
                      <a:endParaRPr lang="en-IN" sz="1000" b="1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Whatever you build (</a:t>
                      </a:r>
                      <a:r>
                        <a:rPr lang="en-US" sz="1000" dirty="0" err="1"/>
                        <a:t>BigQuery</a:t>
                      </a:r>
                      <a:r>
                        <a:rPr lang="en-US" sz="1000" dirty="0"/>
                        <a:t> Billing Export, Cloud Monitoring, Asset Inventory, Terraform/Ansible, Jira/ServiceNow).</a:t>
                      </a:r>
                      <a:endParaRPr lang="en-US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Broad out-of-the-box: clouds (AWS/Azure/GCP), vCenter, K8s distros (incl. GKE/</a:t>
                      </a:r>
                      <a:r>
                        <a:rPr lang="en-IN" sz="1000" dirty="0" err="1"/>
                        <a:t>Openshift</a:t>
                      </a:r>
                      <a:r>
                        <a:rPr lang="en-IN" sz="1000" dirty="0"/>
                        <a:t>), ITSM (ServiceNow), </a:t>
                      </a:r>
                      <a:r>
                        <a:rPr lang="en-IN" sz="1000" dirty="0" err="1"/>
                        <a:t>IaC</a:t>
                      </a:r>
                      <a:r>
                        <a:rPr lang="en-IN" sz="1000" dirty="0"/>
                        <a:t> (Terraform), GitHub, etc. </a:t>
                      </a:r>
                      <a:endParaRPr lang="da-DK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877991"/>
                  </a:ext>
                </a:extLst>
              </a:tr>
              <a:tr h="4901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dirty="0"/>
                        <a:t>Explainability</a:t>
                      </a:r>
                      <a:endParaRPr lang="en-IN" sz="1000" b="1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You control the reason codes and cost math; easy to tailor to your finance/SRE language.</a:t>
                      </a:r>
                      <a:endParaRPr lang="en-US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Provides action rationales (supply/demand model) and tracks decisions/changes; designed to “assure performance first” while optimizing cost. </a:t>
                      </a:r>
                      <a:endParaRPr lang="da-DK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11071006"/>
                  </a:ext>
                </a:extLst>
              </a:tr>
              <a:tr h="4901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dirty="0"/>
                        <a:t>Financial/FinOps posture</a:t>
                      </a:r>
                      <a:endParaRPr lang="en-IN" sz="1000" b="1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Natively GCP-centric; you can model CUDs/SUDs, committed/spot, labels for </a:t>
                      </a:r>
                      <a:r>
                        <a:rPr lang="en-US" sz="1000" dirty="0" err="1"/>
                        <a:t>showback</a:t>
                      </a:r>
                      <a:r>
                        <a:rPr lang="en-US" sz="1000" dirty="0"/>
                        <a:t>/chargeback as you implement.</a:t>
                      </a:r>
                      <a:endParaRPr lang="en-US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Recognized in FinOps community; positions itself as continuous optimization from </a:t>
                      </a:r>
                      <a:r>
                        <a:rPr lang="en-US" sz="1000" dirty="0" err="1"/>
                        <a:t>app→infra</a:t>
                      </a:r>
                      <a:r>
                        <a:rPr lang="en-US" sz="1000" dirty="0"/>
                        <a:t> with cost &amp; performance; supports cloud-native pricing models.</a:t>
                      </a:r>
                      <a:endParaRPr lang="da-DK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66237"/>
                  </a:ext>
                </a:extLst>
              </a:tr>
              <a:tr h="3518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dirty="0"/>
                        <a:t>Deployment models</a:t>
                      </a:r>
                      <a:endParaRPr lang="en-IN" sz="1000" b="1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Your choice (hosted by you in GCP; agents via ADK).</a:t>
                      </a:r>
                      <a:endParaRPr lang="en-US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SaaS or self-hosted; available via AWS/Azure marketplaces; can run in your account.</a:t>
                      </a:r>
                      <a:endParaRPr lang="da-DK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5256995"/>
                  </a:ext>
                </a:extLst>
              </a:tr>
              <a:tr h="3518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dirty="0"/>
                        <a:t>Security &amp; governance</a:t>
                      </a:r>
                      <a:endParaRPr lang="en-IN" sz="1000" b="1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Your standards (CSPM/ISMS) and org controls; data stays in your tenancy.</a:t>
                      </a:r>
                      <a:endParaRPr lang="en-US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Enterprise controls, policy guardrails, change approvals via ITSM integrations; IBM support/provenance.</a:t>
                      </a:r>
                      <a:endParaRPr lang="da-DK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38965450"/>
                  </a:ext>
                </a:extLst>
              </a:tr>
              <a:tr h="3518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dirty="0"/>
                        <a:t>Maturity</a:t>
                      </a:r>
                      <a:endParaRPr lang="en-IN" sz="1000" b="1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Early—tailored to your environment and fast to iterate.</a:t>
                      </a:r>
                      <a:endParaRPr lang="en-US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Very mature; production-hardened across large estates and mixed platforms. </a:t>
                      </a:r>
                      <a:endParaRPr lang="da-DK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7300754"/>
                  </a:ext>
                </a:extLst>
              </a:tr>
              <a:tr h="4901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b="1" dirty="0"/>
                        <a:t>Pricing</a:t>
                      </a:r>
                      <a:endParaRPr lang="en-IN" sz="1000" b="1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000" dirty="0"/>
                        <a:t>Internal build/operate cost.</a:t>
                      </a:r>
                      <a:endParaRPr lang="en-US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000" dirty="0"/>
                        <a:t>Quote-based (IBM site); third-party listings cite tiered editions (e.g., “Essentials”) and marketplace SKUs; public list pricing is not consistent. </a:t>
                      </a:r>
                      <a:endParaRPr lang="da-DK" sz="1000" u="none" strike="noStrike" dirty="0"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51487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53534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935</TotalTime>
  <Words>1574</Words>
  <Application>Microsoft Office PowerPoint</Application>
  <PresentationFormat>Widescreen</PresentationFormat>
  <Paragraphs>143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GCP Cost Optimization</vt:lpstr>
      <vt:lpstr>Google Cloud Storage Cost Drivers </vt:lpstr>
      <vt:lpstr>BigQuery Cost Drivers </vt:lpstr>
      <vt:lpstr>GKE Cost Drivers</vt:lpstr>
      <vt:lpstr>OR Tool Vs IBM Turbonomic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Vishwajeet Jadhav</dc:creator>
  <cp:lastModifiedBy>Vishwajeet Jadhav</cp:lastModifiedBy>
  <cp:revision>14</cp:revision>
  <dcterms:created xsi:type="dcterms:W3CDTF">2025-08-06T01:54:59Z</dcterms:created>
  <dcterms:modified xsi:type="dcterms:W3CDTF">2025-08-29T05:23:10Z</dcterms:modified>
</cp:coreProperties>
</file>