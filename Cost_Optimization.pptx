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D1C9-C8CB-D5C3-3837-A3203FF4E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B1BF3-429E-F52B-0D62-257BE3B89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C2BCF-74A1-15AF-840D-CC73BBB15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C6CB9-D8A2-36F6-FA66-E5C2E5AD0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242B3-7191-F289-D26C-8DECA553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79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F594-4820-563F-72EC-4EBCFA5C9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CDF8A-5423-9D9E-3FC0-7AC19585A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C2114-2A94-7837-48F0-56A9B253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98BCA-A887-6883-486A-B332B2B9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0CC16-AFF0-7912-018D-3BDDAA61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486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7BA7-3760-3B01-DC93-62603C0C6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F79B7-A7AC-912F-44FD-59EF090CA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603AF-B00A-20F7-783C-9B0EB6C3C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852DD-141C-5148-CAF6-7CA04CA5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00FDA-522A-0F6A-B2A5-645A0A58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854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D1F4-E9DA-4981-0B8A-7EBDD21D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9F93-FF38-CD86-96A6-45844E773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9E4EE-9D4E-3C1A-1269-65DDCDFC9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6F255-E728-B868-B3FE-5BB02A45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F8DD4-E580-9348-197F-C3C11D3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7DF1A-045F-BC14-0E54-2F89933E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4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CFF0-7075-2C9B-6A2A-D88A6626E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46616-9D7C-C04F-41BD-E54591670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69B0E-34FB-14FB-66C7-35AA45339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65271-ACB2-85DB-75D1-AC69F34F8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30332-90A0-B947-D382-25E937DB1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9C9180-22BB-E959-1233-22FE4C83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93C9CF-8A84-E8B1-91C0-9F5FE8DF0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AF909-A0A2-BB05-C225-14E7F2C0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18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E070-CE59-95C8-9CF1-0C3BD2933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508F8-A25E-5B9C-8206-9558F81A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6F3E6-4C11-875E-0989-FCCC4CD38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508D0-C0F5-F89F-CE74-EA2B00FB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2B464E-D384-DCAA-9DBA-D4C7B6BC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3FD2E-7483-C0BE-9288-88F5D9DAB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FE716-C289-CB34-8463-5A7DC2C83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64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A1F0-9D83-9121-079C-4B99C04D0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EF2C5-1D94-F889-4720-3369A57E3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F6041-A452-0AD8-EF3E-E27B4EFD0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96FF9-AC09-720C-BA06-5AC36EADF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39809-8172-8AC6-6085-8CC0E872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6B179-6C40-350A-D4C0-6DAC8770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521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5798C-0F87-68F2-69CD-E9733BE3E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48757-ED89-B715-A795-E0025D63B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3951C-80FD-36BB-5B6E-282228875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8F94D-A76A-A3F7-DC53-0E0A0489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2E620-D96F-B3B7-A267-1DA77162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8E99F-C9BA-CEB0-E4D1-9479015C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411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9591-CE29-9804-1AB3-EBB41F85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C2035-3C55-A377-BE3C-CB33BE983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0DAA4-8AC2-3E15-B52A-B1E72175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0AA57-A40F-03F0-51DC-3AB635BB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9E9A2-C009-B35A-6B00-F5B2B046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C2F042-E92D-B6AA-3AD9-675E8E240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3A70C-531D-0B51-FD35-064D421B1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D91F8-76B3-CF6B-D2AA-D21E5521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63650-6EDC-1ED7-2095-70C9C3CB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4B98A-2805-FCCE-F7BE-1D66FAC14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22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D0AE97-559A-054F-ED0C-905B3AE6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B1092-E79E-571A-EB46-3FADE1640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9F449-CDCA-D950-705B-6D3F99D40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CD078-A1DE-4913-9B4A-9FAFF04AE4C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7770D-8356-CCA6-CD3F-02BB9CDA0A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0451E-76B1-DC3D-3095-88F940AE7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444D2-C3EA-4BF6-93D3-079CC30DE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09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A440-8672-1073-8E7E-993CC3D2EC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GCP Cost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D1D89-C2BF-6D9C-2E4A-56F8056A57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80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88EA-E144-5DBB-9AF5-68E29849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384048"/>
            <a:ext cx="10515600" cy="292608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+mn-lt"/>
              </a:rPr>
              <a:t>Google Cloud Storage Cost Drivers</a:t>
            </a:r>
            <a:br>
              <a:rPr lang="en-US" sz="1800" b="1" dirty="0">
                <a:latin typeface="+mn-lt"/>
              </a:rPr>
            </a:br>
            <a:endParaRPr lang="en-IN" sz="1800" b="1" dirty="0">
              <a:latin typeface="+mn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633B2B2-0E03-98D2-A1F5-DF2E38848E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182791"/>
              </p:ext>
            </p:extLst>
          </p:nvPr>
        </p:nvGraphicFramePr>
        <p:xfrm>
          <a:off x="838200" y="847217"/>
          <a:ext cx="10515600" cy="591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918239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012278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859937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52769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Pricing (North America, Region)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Example (30 Days)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455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for storing data, based on storage class (Standard, Nearline,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Coldline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Archive) and region.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Standard: $0.023/GB/month - Nearline: $0.010/GB/month -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Coldline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: $0.004/GB/month - Archive: $0.0022/GB/month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 GB Standard Storage: 50 GB * $0.023/GB * (30/30) = $1.15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879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Network Egress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Charges for data downloaded or transferred out of GCS (ingress is free).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$0.12/GB for first 1 TB/month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 GB Egress: 10 GB * $0.12/GB = $1.20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778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Class A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Operations like PUT, POST, and GET bucket (list) requests.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$0.05 per 10,000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10,000 Class A Operations: (10,000 / 10,000) * $0.05 = $0.05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53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Class B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Operations like GET object and HEAD requests.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$0.004 per 10,000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20,000 Class B Operations: (20,000 / 10,000) * $0.004 = $0.008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86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Retrieval Fees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Fees for accessing data in Nearline, Coldline, or Archive storage classes.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 Nearline: $0.01/GB - Coldline: $0.02/GB - Archive: $0.05/GB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 GB Archive Retrieval: 10 GB * $0.05/GB = $0.50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515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Early Deletion Fees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Fees for deleting data before the minimum storage duration (Nearline: 30 days, Coldline: 90 days, Archive: 365 days).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Equivalent to remaining minimum storage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500 GB Archive deleted after 185 days (180 days remaining): 500 GB * $0.0022/GB * (180/30) = $6.60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03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Sum of all cost components for the project.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Total Cost = Storage Cost + Network Egress Cost + Operations Cost + Retrieval/Early Deletion Fees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$1.15 + $1.20 + $0.05 + $0.008 + $0.50 + $6.60 = $9.508</a:t>
                      </a:r>
                    </a:p>
                    <a:p>
                      <a:pPr>
                        <a:buNone/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767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11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C512-3B5F-3892-DE06-DEE4835AD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3E7C-536D-6A43-7A51-2A766941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384048"/>
            <a:ext cx="10515600" cy="292608"/>
          </a:xfrm>
        </p:spPr>
        <p:txBody>
          <a:bodyPr>
            <a:noAutofit/>
          </a:bodyPr>
          <a:lstStyle/>
          <a:p>
            <a:r>
              <a:rPr lang="en-US" sz="1800" b="1" dirty="0" err="1">
                <a:latin typeface="+mn-lt"/>
              </a:rPr>
              <a:t>BigQuery</a:t>
            </a:r>
            <a:r>
              <a:rPr lang="en-US" sz="1800" b="1" dirty="0">
                <a:latin typeface="+mn-lt"/>
              </a:rPr>
              <a:t> Cost Drivers</a:t>
            </a:r>
            <a:br>
              <a:rPr lang="en-US" sz="1800" b="1" dirty="0">
                <a:latin typeface="+mn-lt"/>
              </a:rPr>
            </a:br>
            <a:endParaRPr lang="en-IN" sz="1800" b="1" dirty="0">
              <a:latin typeface="+mn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98BBDC6-A0DD-5ECC-EE2F-83D80A6A3E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1075631"/>
              </p:ext>
            </p:extLst>
          </p:nvPr>
        </p:nvGraphicFramePr>
        <p:xfrm>
          <a:off x="838200" y="847216"/>
          <a:ext cx="10628376" cy="5626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7094">
                  <a:extLst>
                    <a:ext uri="{9D8B030D-6E8A-4147-A177-3AD203B41FA5}">
                      <a16:colId xmlns:a16="http://schemas.microsoft.com/office/drawing/2014/main" val="2991823968"/>
                    </a:ext>
                  </a:extLst>
                </a:gridCol>
                <a:gridCol w="2657094">
                  <a:extLst>
                    <a:ext uri="{9D8B030D-6E8A-4147-A177-3AD203B41FA5}">
                      <a16:colId xmlns:a16="http://schemas.microsoft.com/office/drawing/2014/main" val="1401227840"/>
                    </a:ext>
                  </a:extLst>
                </a:gridCol>
                <a:gridCol w="2657094">
                  <a:extLst>
                    <a:ext uri="{9D8B030D-6E8A-4147-A177-3AD203B41FA5}">
                      <a16:colId xmlns:a16="http://schemas.microsoft.com/office/drawing/2014/main" val="1985993749"/>
                    </a:ext>
                  </a:extLst>
                </a:gridCol>
                <a:gridCol w="2657094">
                  <a:extLst>
                    <a:ext uri="{9D8B030D-6E8A-4147-A177-3AD203B41FA5}">
                      <a16:colId xmlns:a16="http://schemas.microsoft.com/office/drawing/2014/main" val="1452769300"/>
                    </a:ext>
                  </a:extLst>
                </a:gridCol>
              </a:tblGrid>
              <a:tr h="429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Pricing (US Region)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Example (30 Days)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6455084"/>
                  </a:ext>
                </a:extLst>
              </a:tr>
              <a:tr h="52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Active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modified in the last 90 days.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$0.02/GB/month (first 10 GB free)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 GB Active: (100 - 10) * $0.02 = $1.80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879868"/>
                  </a:ext>
                </a:extLst>
              </a:tr>
              <a:tr h="52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Long-Term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unmodified for 90+ days (50% discount).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$0.01/GB/month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 GB Long-Term: 50 * $0.01 = $0.50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1778204"/>
                  </a:ext>
                </a:extLst>
              </a:tr>
              <a:tr h="529713"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 Processing (On-Demand)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for data processed by queries (first 1 TB/month free).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$5/TB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TB processed: (2 - 1) * $5 = $5.00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538759"/>
                  </a:ext>
                </a:extLst>
              </a:tr>
              <a:tr h="529713">
                <a:tc>
                  <a:txBody>
                    <a:bodyPr/>
                    <a:lstStyle/>
                    <a:p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 Processing (Flat-Rate)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Fixed cost for reserved slots (e.g., Enterprise Edition).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$20/slot/month (e.g., 100 slots = $2,000)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 slots: $2,000 * (30/30) = $2,000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86197"/>
                  </a:ext>
                </a:extLst>
              </a:tr>
              <a:tr h="429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Streaming Inserts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for data streamed into BigQuery.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$0.05/GB (first 2 TB/month free)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 GB streamed: 10 * $0.05 = $0.50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515024"/>
                  </a:ext>
                </a:extLst>
              </a:tr>
              <a:tr h="52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Streaming Reads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read from BigQuery in real-time (e.g., via APIs).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$1.10 per TB (first 300 TB free/month)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 TB read: (100 - 300) * $1.10 = $0 (within free tier)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03980"/>
                  </a:ext>
                </a:extLst>
              </a:tr>
              <a:tr h="7415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Transfer (Export)</a:t>
                      </a:r>
                    </a:p>
                    <a:p>
                      <a:pPr>
                        <a:buNone/>
                      </a:pP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for exporting data (batch free up to 50 TB/day; Storage API reads cost).</a:t>
                      </a:r>
                    </a:p>
                    <a:p>
                      <a:pPr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$0.12/GB (egress), $1.10/TB (Storage API)</a:t>
                      </a:r>
                    </a:p>
                    <a:p>
                      <a:pPr>
                        <a:buNone/>
                      </a:pPr>
                      <a:endParaRPr lang="en-IN" sz="12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GB egress: 5 * $0.12 = $0.60</a:t>
                      </a:r>
                    </a:p>
                    <a:p>
                      <a:pPr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767909"/>
                  </a:ext>
                </a:extLst>
              </a:tr>
              <a:tr h="52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In-memory analysis for faster query performance (optional).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$0.04 per GB/month (reserved capacity)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 GB reserved: 10 * $0.04 = $0.40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6313"/>
                  </a:ext>
                </a:extLst>
              </a:tr>
              <a:tr h="52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BigQuery Omni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Running BigQuery on non-GCP clouds (AWS, Azure).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Varies by cloud provider; ~$7 per TB processed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TB processed on AWS: $7.00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8937129"/>
                  </a:ext>
                </a:extLst>
              </a:tr>
              <a:tr h="317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Sum of all cost components.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410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52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476A-98F3-1E27-CA94-9EFEF6E8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376393"/>
            <a:ext cx="10515600" cy="348107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+mn-lt"/>
              </a:rPr>
              <a:t>GKE Cost Drivers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0C2C7B-6840-894E-FFBA-E38C817FF4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847770"/>
              </p:ext>
            </p:extLst>
          </p:nvPr>
        </p:nvGraphicFramePr>
        <p:xfrm>
          <a:off x="838203" y="993520"/>
          <a:ext cx="10765533" cy="5488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8511">
                  <a:extLst>
                    <a:ext uri="{9D8B030D-6E8A-4147-A177-3AD203B41FA5}">
                      <a16:colId xmlns:a16="http://schemas.microsoft.com/office/drawing/2014/main" val="1102372654"/>
                    </a:ext>
                  </a:extLst>
                </a:gridCol>
                <a:gridCol w="3588511">
                  <a:extLst>
                    <a:ext uri="{9D8B030D-6E8A-4147-A177-3AD203B41FA5}">
                      <a16:colId xmlns:a16="http://schemas.microsoft.com/office/drawing/2014/main" val="905409914"/>
                    </a:ext>
                  </a:extLst>
                </a:gridCol>
                <a:gridCol w="3588511">
                  <a:extLst>
                    <a:ext uri="{9D8B030D-6E8A-4147-A177-3AD203B41FA5}">
                      <a16:colId xmlns:a16="http://schemas.microsoft.com/office/drawing/2014/main" val="390644109"/>
                    </a:ext>
                  </a:extLst>
                </a:gridCol>
              </a:tblGrid>
              <a:tr h="569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Cost 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u="none" strike="noStrike"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u="none" strike="noStrike">
                          <a:effectLst/>
                          <a:latin typeface="+mn-lt"/>
                        </a:rPr>
                        <a:t>Example Cost (30 Days)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168613"/>
                  </a:ext>
                </a:extLst>
              </a:tr>
              <a:tr h="702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u="none" strike="noStrike">
                          <a:effectLst/>
                          <a:latin typeface="+mn-lt"/>
                        </a:rPr>
                        <a:t>Cluster Management Fee</a:t>
                      </a:r>
                      <a:endParaRPr lang="en-IN" sz="1200" u="none" strike="noStrike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Fixed fee per cluster per hour. One zonal cluster per billing account is free (up to 720 hours/month).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$73 (1 standard cluster, $0.10/hour × 730 hours, assuming no free tier).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710419"/>
                  </a:ext>
                </a:extLst>
              </a:tr>
              <a:tr h="702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Compute Resources (Nodes)</a:t>
                      </a:r>
                      <a:endParaRPr lang="en-IN" sz="1200" u="none" strike="noStrike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Costs for Compute Engine instances (vCPUs, memory) used by worker nodes in Standard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$150.45 (3 n1-standard-2 nodes, ~$0.068/vCPU/hour, 2 vCPUs each, 730 hours).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37908"/>
                  </a:ext>
                </a:extLst>
              </a:tr>
              <a:tr h="702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Autopilot Pod Resources</a:t>
                      </a:r>
                      <a:endParaRPr lang="en-IN" sz="1200" u="none" strike="noStrike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In Autopilot mode, charges for vCPU and memory allocated to pods, not nodes.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$200 (2 vCPUs at $0.045/hour, 4 GB memory at $0.006/GB/hour, 730 hours).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1637535"/>
                  </a:ext>
                </a:extLst>
              </a:tr>
              <a:tr h="702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u="none" strike="noStrike">
                          <a:effectLst/>
                          <a:latin typeface="+mn-lt"/>
                        </a:rPr>
                        <a:t>Persistent Disks</a:t>
                      </a:r>
                      <a:endParaRPr lang="en-IN" sz="1200" u="none" strike="noStrike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Storage for workloads (e.g., Standard, SSD). Billed based on provisioned capacity.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u="none" strike="noStrike">
                          <a:effectLst/>
                          <a:latin typeface="+mn-lt"/>
                        </a:rPr>
                        <a:t>$40 (100 GB SSD at $0.17/GB/month).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507906"/>
                  </a:ext>
                </a:extLst>
              </a:tr>
              <a:tr h="702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u="none" strike="noStrike">
                          <a:effectLst/>
                          <a:latin typeface="+mn-lt"/>
                        </a:rPr>
                        <a:t>Load Balancers</a:t>
                      </a:r>
                      <a:endParaRPr lang="en-IN" sz="1200" u="none" strike="noStrike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Costs for HTTP(S) or TCP/UDP load balancers used by GKE services.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$18.25 (1 HTTP load balancer, $0.025/hour × 730 hours).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460102"/>
                  </a:ext>
                </a:extLst>
              </a:tr>
              <a:tr h="702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Network Egress</a:t>
                      </a:r>
                      <a:endParaRPr lang="en-IN" sz="1200" u="none" strike="noStrike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Data transfer costs for traffic leaving GCP (e.g., to the internet or other regions).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$10 (50 GB egress to the internet at $0.20/GB).</a:t>
                      </a:r>
                    </a:p>
                    <a:p>
                      <a:pPr>
                        <a:buNone/>
                      </a:pPr>
                      <a:endParaRPr lang="en-US" sz="1200" u="none" strike="noStrike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88595"/>
                  </a:ext>
                </a:extLst>
              </a:tr>
              <a:tr h="702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+mn-lt"/>
                        </a:rPr>
                        <a:t>Other Resources</a:t>
                      </a:r>
                      <a:endParaRPr lang="en-IN" sz="1200" u="none" strike="noStrike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Additional services like Cloud Logging, Monitoring, or IP addresses.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u="none" strike="noStrike" dirty="0">
                          <a:effectLst/>
                          <a:latin typeface="+mn-lt"/>
                        </a:rPr>
                        <a:t>$5 (Cloud Monitoring data ingestion, ~50 GB at $0.10/GB).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877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478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67F10-BF67-44D2-F961-E2D9EE32C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7D51-355A-46D7-D583-CF04FA271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376393"/>
            <a:ext cx="10515600" cy="348107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+mn-lt"/>
              </a:rPr>
              <a:t>GCP services cost optimization use cases with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6EAC3B-19F7-4EBF-F9EA-E07F364F2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290516"/>
              </p:ext>
            </p:extLst>
          </p:nvPr>
        </p:nvGraphicFramePr>
        <p:xfrm>
          <a:off x="804672" y="827567"/>
          <a:ext cx="10582655" cy="565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531">
                  <a:extLst>
                    <a:ext uri="{9D8B030D-6E8A-4147-A177-3AD203B41FA5}">
                      <a16:colId xmlns:a16="http://schemas.microsoft.com/office/drawing/2014/main" val="3960887689"/>
                    </a:ext>
                  </a:extLst>
                </a:gridCol>
                <a:gridCol w="2116531">
                  <a:extLst>
                    <a:ext uri="{9D8B030D-6E8A-4147-A177-3AD203B41FA5}">
                      <a16:colId xmlns:a16="http://schemas.microsoft.com/office/drawing/2014/main" val="739127273"/>
                    </a:ext>
                  </a:extLst>
                </a:gridCol>
                <a:gridCol w="2116531">
                  <a:extLst>
                    <a:ext uri="{9D8B030D-6E8A-4147-A177-3AD203B41FA5}">
                      <a16:colId xmlns:a16="http://schemas.microsoft.com/office/drawing/2014/main" val="1537214704"/>
                    </a:ext>
                  </a:extLst>
                </a:gridCol>
                <a:gridCol w="2116531">
                  <a:extLst>
                    <a:ext uri="{9D8B030D-6E8A-4147-A177-3AD203B41FA5}">
                      <a16:colId xmlns:a16="http://schemas.microsoft.com/office/drawing/2014/main" val="3492142327"/>
                    </a:ext>
                  </a:extLst>
                </a:gridCol>
                <a:gridCol w="2116531">
                  <a:extLst>
                    <a:ext uri="{9D8B030D-6E8A-4147-A177-3AD203B41FA5}">
                      <a16:colId xmlns:a16="http://schemas.microsoft.com/office/drawing/2014/main" val="3459181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GCP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Optimization Use Case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Problem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Solver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Optimization Justification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196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Cloud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Assign data objects to storage classes (Standard, Nearline, Coldline, Archive) based on access frequency and retention period to minimize storage, retrieval, and egress costs.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Mixed-Integer Programming (MIP)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OR-Tools (SCIP)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Reduces costs by selecting cheaper storage classes (e.g., Archive at $0.0022/GB vs. Standard at $0.023/GB) for infrequently accessed data, respecting minimum storage durations and access patterns.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820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BigQuery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Optimize dataset storage (active vs. long-term) and query pricing (on-demand vs. flat-rate slots) to minimize storage and query processing costs.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Mixed-Integer Programming (MIP)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OR-Tools (SCIP)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Lowers costs by using long-term storage ($0.01/GB vs. $0.02/GB) for unmodified data and choosing flat-rate slots ($20/slot/month) for high query volumes, balancing free tiers (10 GB storage, 1 TB queries).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942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Google Kubernetes Engine (GKE)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Allocate workloads to node pools with optimal machine types and preemptible VMs, balancing performance and cost while meeting resource demands.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Linear Programming (LP) or MIP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OR-Tools (SCIP or GLOP)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Minimizes node costs (e.g., preemptible VMs at ~80% discount) by assigning workloads to cost-efficient machine types, ensuring CPU/memory requirements and avoiding over-provisioning.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8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Compute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Select optimal VM instance types (e.g., E2, N2, Compute-Optimized) and use sustained-use discounts or preemptible VMs for workloads to minimize compute costs.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Mixed-Integer Programming (MIP)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OR-Tools (SCIP)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Reduces costs by leveraging preemptible VMs (up to 80% cheaper) for fault-tolerant workloads and sustained-use discounts (up to 30%) for persistent VMs, matching resource needs to workload demands.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909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40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E093-43E4-6CE2-0ABD-1AAC70926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57BC-D093-76FA-8830-40FC8067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376393"/>
            <a:ext cx="10515600" cy="348107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+mn-lt"/>
              </a:rPr>
              <a:t>GCP services cost optimization use cases with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CA6EE33-E860-095C-63FA-C49E0CC6A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250872"/>
              </p:ext>
            </p:extLst>
          </p:nvPr>
        </p:nvGraphicFramePr>
        <p:xfrm>
          <a:off x="804672" y="827567"/>
          <a:ext cx="10582655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531">
                  <a:extLst>
                    <a:ext uri="{9D8B030D-6E8A-4147-A177-3AD203B41FA5}">
                      <a16:colId xmlns:a16="http://schemas.microsoft.com/office/drawing/2014/main" val="3960887689"/>
                    </a:ext>
                  </a:extLst>
                </a:gridCol>
                <a:gridCol w="2116531">
                  <a:extLst>
                    <a:ext uri="{9D8B030D-6E8A-4147-A177-3AD203B41FA5}">
                      <a16:colId xmlns:a16="http://schemas.microsoft.com/office/drawing/2014/main" val="739127273"/>
                    </a:ext>
                  </a:extLst>
                </a:gridCol>
                <a:gridCol w="2116531">
                  <a:extLst>
                    <a:ext uri="{9D8B030D-6E8A-4147-A177-3AD203B41FA5}">
                      <a16:colId xmlns:a16="http://schemas.microsoft.com/office/drawing/2014/main" val="1537214704"/>
                    </a:ext>
                  </a:extLst>
                </a:gridCol>
                <a:gridCol w="2116531">
                  <a:extLst>
                    <a:ext uri="{9D8B030D-6E8A-4147-A177-3AD203B41FA5}">
                      <a16:colId xmlns:a16="http://schemas.microsoft.com/office/drawing/2014/main" val="3492142327"/>
                    </a:ext>
                  </a:extLst>
                </a:gridCol>
                <a:gridCol w="2116531">
                  <a:extLst>
                    <a:ext uri="{9D8B030D-6E8A-4147-A177-3AD203B41FA5}">
                      <a16:colId xmlns:a16="http://schemas.microsoft.com/office/drawing/2014/main" val="3459181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Programming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Simple Explanation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How It 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Example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Why Use It?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196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Linear Programming (LP)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Finds the best solution (e.g., lowest cost) for problems with continuous variables, like how much of something to use, under constraints like budget or resources.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Uses equations where variables (e.g., resource amounts) can be any number (not just whole numbers) and optimizes a goal (e.g., minimize cost). Constraints are limits like storage capacity.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Optimize Cloud Dataflow worker usage to minimize compute costs while meeting job deadlines (e.g., scale workers to process 2 TB data).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Simple and fast for problems with smooth, continuous choices, like scaling resources or allocating budgets.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820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Mixed-Integer Programming (MIP)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Similar to LP, but some variables must be whole numbers (e.g., number of VMs). Used for problems with both continuous and discrete choices.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Combines LP with integer constraints. Solves problems where decisions include "how many" (e.g., VMs) and "how much" (e.g., storage size).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Assign BigQuery datasets to active or long-term storage and choose on-demand or flat-rate slots to minimize costs.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Handles complex decisions with both whole-number and fractional variables, like choosing machine types and resource amounts.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942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Integer Programming (IP)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Finds the best solution when all decision variables must be whole numbers, like choosing specific items or quantities.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Like MIP, but all variables are integers (no fractions). Useful for yes/no decisions or counting items.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Select the number of Compute Engine VMs (e.g., 5 E2 instances) to minimize costs while meeting workload demands.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Ideal for problems where decisions are discrete, like picking specific resources or configurations.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825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Constraint Programming (CP)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Solves problems by defining rules (constraints) that solutions must follow, like scheduling or resource allocation, without necessarily optimizing a single goal.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Finds feasible solutions that satisfy all constraints (e.g., task deadlines, resource limits). Can optimize a goal if needed.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Schedule GKE workloads across nodes to balance CPU/memory usage while respecting pod requirements.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Flexible for complex rule-based problems, like scheduling or assigning tasks without a single cost focus.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909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313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DD67A9E8-643F-2FB6-C772-78E51E063A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301" y="316864"/>
            <a:ext cx="9010859" cy="6176757"/>
          </a:xfrm>
        </p:spPr>
      </p:pic>
    </p:spTree>
    <p:extLst>
      <p:ext uri="{BB962C8B-B14F-4D97-AF65-F5344CB8AC3E}">
        <p14:creationId xmlns:p14="http://schemas.microsoft.com/office/powerpoint/2010/main" val="114157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4546</TotalTime>
  <Words>1789</Words>
  <Application>Microsoft Office PowerPoint</Application>
  <PresentationFormat>Widescreen</PresentationFormat>
  <Paragraphs>155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GCP Cost Optimization</vt:lpstr>
      <vt:lpstr>Google Cloud Storage Cost Drivers </vt:lpstr>
      <vt:lpstr>BigQuery Cost Drivers </vt:lpstr>
      <vt:lpstr>GKE Cost Drivers</vt:lpstr>
      <vt:lpstr>GCP services cost optimization use cases with example</vt:lpstr>
      <vt:lpstr>GCP services cost optimization use cases with 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Vishwajeet Jadhav</dc:creator>
  <cp:lastModifiedBy>Vishwajeet Jadhav</cp:lastModifiedBy>
  <cp:revision>20</cp:revision>
  <dcterms:created xsi:type="dcterms:W3CDTF">2025-08-06T01:54:59Z</dcterms:created>
  <dcterms:modified xsi:type="dcterms:W3CDTF">2025-08-13T03:12:46Z</dcterms:modified>
</cp:coreProperties>
</file>